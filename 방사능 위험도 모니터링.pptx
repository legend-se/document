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80" r:id="rId6"/>
    <p:sldId id="281" r:id="rId7"/>
    <p:sldId id="282" r:id="rId8"/>
    <p:sldId id="283" r:id="rId9"/>
    <p:sldId id="260" r:id="rId10"/>
    <p:sldId id="267" r:id="rId11"/>
    <p:sldId id="261" r:id="rId12"/>
    <p:sldId id="279" r:id="rId13"/>
    <p:sldId id="278" r:id="rId14"/>
    <p:sldId id="284" r:id="rId15"/>
    <p:sldId id="285" r:id="rId16"/>
    <p:sldId id="286" r:id="rId17"/>
    <p:sldId id="262" r:id="rId18"/>
    <p:sldId id="268" r:id="rId19"/>
    <p:sldId id="270" r:id="rId20"/>
    <p:sldId id="263" r:id="rId21"/>
    <p:sldId id="271" r:id="rId22"/>
    <p:sldId id="275" r:id="rId23"/>
    <p:sldId id="264" r:id="rId24"/>
    <p:sldId id="274" r:id="rId25"/>
    <p:sldId id="276" r:id="rId26"/>
    <p:sldId id="265" r:id="rId27"/>
    <p:sldId id="273" r:id="rId28"/>
    <p:sldId id="266" r:id="rId29"/>
    <p:sldId id="272" r:id="rId30"/>
    <p:sldId id="287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76FA05B-683B-479C-96CA-D8348568DB1D}">
          <p14:sldIdLst>
            <p14:sldId id="256"/>
            <p14:sldId id="257"/>
          </p14:sldIdLst>
        </p14:section>
        <p14:section name="요구사항" id="{837D7C8A-797F-4B3A-9BF1-8798F72668ED}">
          <p14:sldIdLst>
            <p14:sldId id="258"/>
            <p14:sldId id="259"/>
            <p14:sldId id="280"/>
            <p14:sldId id="281"/>
            <p14:sldId id="282"/>
            <p14:sldId id="283"/>
          </p14:sldIdLst>
        </p14:section>
        <p14:section name="데모" id="{B7405A8D-7BA4-4C0D-BF59-9CE6D0075D25}">
          <p14:sldIdLst>
            <p14:sldId id="260"/>
            <p14:sldId id="267"/>
          </p14:sldIdLst>
        </p14:section>
        <p14:section name="위험 유형 분석" id="{6D57D0D0-8F57-4688-8400-FBAAE7DAE315}">
          <p14:sldIdLst>
            <p14:sldId id="261"/>
            <p14:sldId id="279"/>
            <p14:sldId id="278"/>
            <p14:sldId id="284"/>
            <p14:sldId id="285"/>
            <p14:sldId id="286"/>
          </p14:sldIdLst>
        </p14:section>
        <p14:section name="시나리오 및 시퀀스 다이어그램" id="{C14AADEA-9065-4483-8DA9-45A329AB01BF}">
          <p14:sldIdLst>
            <p14:sldId id="262"/>
            <p14:sldId id="268"/>
            <p14:sldId id="270"/>
          </p14:sldIdLst>
        </p14:section>
        <p14:section name="상태 다이어그램" id="{11A1AD52-6091-4A5D-954D-B9761E01E6E3}">
          <p14:sldIdLst>
            <p14:sldId id="263"/>
            <p14:sldId id="271"/>
            <p14:sldId id="275"/>
          </p14:sldIdLst>
        </p14:section>
        <p14:section name="테이블" id="{C3F81909-FC84-45B3-B9BB-9594E8CFB3B3}">
          <p14:sldIdLst>
            <p14:sldId id="264"/>
            <p14:sldId id="274"/>
            <p14:sldId id="276"/>
          </p14:sldIdLst>
        </p14:section>
        <p14:section name="함수 추상화" id="{FBC3143E-9BB8-4647-BC9E-40C23EE27819}">
          <p14:sldIdLst>
            <p14:sldId id="265"/>
            <p14:sldId id="273"/>
          </p14:sldIdLst>
        </p14:section>
        <p14:section name="평가 방법" id="{C3F2FC56-0FFD-417A-A808-61AD96CC73BD}">
          <p14:sldIdLst>
            <p14:sldId id="266"/>
            <p14:sldId id="272"/>
          </p14:sldIdLst>
        </p14:section>
        <p14:section name="Thank you" id="{665D609A-FA69-47CF-BE84-899E5BC82F9E}">
          <p14:sldIdLst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k seokhyunp" userId="1a49bc0c3dd76182" providerId="LiveId" clId="{26E99825-9B40-48FA-93B0-792D2248F538}"/>
    <pc:docChg chg="modSld">
      <pc:chgData name="park seokhyunp" userId="1a49bc0c3dd76182" providerId="LiveId" clId="{26E99825-9B40-48FA-93B0-792D2248F538}" dt="2025-12-02T11:31:19.332" v="45" actId="20577"/>
      <pc:docMkLst>
        <pc:docMk/>
      </pc:docMkLst>
      <pc:sldChg chg="modSp mod">
        <pc:chgData name="park seokhyunp" userId="1a49bc0c3dd76182" providerId="LiveId" clId="{26E99825-9B40-48FA-93B0-792D2248F538}" dt="2025-12-02T11:31:19.332" v="45" actId="20577"/>
        <pc:sldMkLst>
          <pc:docMk/>
          <pc:sldMk cId="1302144409" sldId="256"/>
        </pc:sldMkLst>
        <pc:spChg chg="mod">
          <ac:chgData name="park seokhyunp" userId="1a49bc0c3dd76182" providerId="LiveId" clId="{26E99825-9B40-48FA-93B0-792D2248F538}" dt="2025-12-02T11:31:19.332" v="45" actId="20577"/>
          <ac:spMkLst>
            <pc:docMk/>
            <pc:sldMk cId="1302144409" sldId="256"/>
            <ac:spMk id="3" creationId="{650F1506-FB7C-3797-F0D8-57604583E4C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D7809-B2B3-4000-8D3E-6D16F16D78BA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04459-3E84-41CE-BA1E-88B7E70B6F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4797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04459-3E84-41CE-BA1E-88B7E70B6FC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81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0F2691-76B4-1A39-299F-4585A1148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839693-8016-75F5-0B76-424CD9E3C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375821-7032-8889-D2E7-A4D2BCF1B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5FA5-D7D4-400E-BAFE-260A52E124D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D877F4-0393-FF5D-ED84-1A5C8462E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16D0C5-8ECF-EFA3-D247-B7EB836AD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3E31-EF1E-4FD9-B4F4-3CBF6A1FF8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54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026487-378D-607D-5B2E-FDCCDECE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DA4D38-70AB-4684-17CB-F54792D33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FC2CE7-0FFB-993A-8C58-6EEB1AC71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5FA5-D7D4-400E-BAFE-260A52E124D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B2DDE-D7F9-06C0-5756-BAEDD5F1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766BCE-141E-4FA4-6DA0-B9C93142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3E31-EF1E-4FD9-B4F4-3CBF6A1FF8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435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10DD7-640C-5AAA-80C1-0CD6B67E8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A347C0-389E-4038-2CC9-D93C097CD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817917-A759-9860-2C40-53C46E1FD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5FA5-D7D4-400E-BAFE-260A52E124D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8A05C8-BEB7-E81E-66BA-EF4F9B827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E3D537-FC7B-9EF6-9AEE-1822A989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3E31-EF1E-4FD9-B4F4-3CBF6A1FF8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399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AA2EF-D776-B93D-4924-74A22D499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155B05-0935-5F11-C3A3-0742ED71A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339860-B6EB-2AA0-2546-2A0BD01DD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1AAA11-4ADD-EA20-9DB6-A5F7507B0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5FA5-D7D4-400E-BAFE-260A52E124D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163F53-D98E-2F1A-6244-464C634A6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B06CF8-7FCF-EB26-92E6-352BC5D41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3E31-EF1E-4FD9-B4F4-3CBF6A1FF8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065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B684D-D203-2397-EDFC-2C4DCB692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BF88F2-7261-EC0B-FD97-299A59616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9E8F11-07AC-ED11-C580-80F6F8DD7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F6BFB1-9BD7-B6EE-58BD-B899CC713D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7AF374-6E1D-55EE-8D52-CA7D584B9F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0859204-767F-06A8-EC8F-FCDDF1BD1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5FA5-D7D4-400E-BAFE-260A52E124D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4A0076-BFBC-3716-6901-7AB2BB7B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3B985F-6BD6-130D-8D0E-D94148F4F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3E31-EF1E-4FD9-B4F4-3CBF6A1FF8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135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739CF7-CA78-B48C-D540-E46BA64E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1FB0F5-B3DC-2996-1BAA-4D541018A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5FA5-D7D4-400E-BAFE-260A52E124D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765A41-78EB-7C4A-E42F-3ACB5937E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CEEB98-E591-FBA5-793C-DC3B9222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3E31-EF1E-4FD9-B4F4-3CBF6A1FF8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68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F1FF48F-DFD9-7EF2-65B3-B5F53E06F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5FA5-D7D4-400E-BAFE-260A52E124D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A3D171-4A06-32F0-416A-549A9332F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0EAD35-C893-45A3-3EC6-2D884D425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3E31-EF1E-4FD9-B4F4-3CBF6A1FF8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279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F093-5987-6C2E-1A19-074852460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E7ED49-538D-E9F6-C017-298141A61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062196-2148-01CA-FC3A-D884DFD1C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FD6343-AA2E-75B1-BCDE-5F3A359D3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5FA5-D7D4-400E-BAFE-260A52E124D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843F47-7064-E394-74CB-71388AC2A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89C894-DEA1-FA84-F85E-463304E46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3E31-EF1E-4FD9-B4F4-3CBF6A1FF8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457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BF77A7-C9E2-7A23-11B6-BADC80B05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B6EDF79-7AD1-1F77-A6BE-5FAA736C1E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E578F3-0A1F-067B-E735-B259EFFD3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E2BC19-E618-1A16-3424-31F37D70E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5FA5-D7D4-400E-BAFE-260A52E124D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22E85D-41B3-DCAD-D8A3-AABDF83EC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80009F-4870-6799-8F07-A57DBB30B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3E31-EF1E-4FD9-B4F4-3CBF6A1FF8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8517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4F471A-4DB3-A49D-611C-7DC26FBC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FDC218-7CA3-6B35-9261-7FF46E95D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6BE201-8698-A8D6-B2D7-73B52B6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5FA5-D7D4-400E-BAFE-260A52E124D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ED169A-B021-3E28-B52F-240441531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2B9E46-1DDB-C8EB-500D-B185D2A1F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3E31-EF1E-4FD9-B4F4-3CBF6A1FF8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172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CDDA61E-38BC-7718-AE42-C4CE14D60D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4DFE80-EB09-DF9A-46A8-BF498E4CE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81E224-C756-FA7F-861A-602624217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5FA5-D7D4-400E-BAFE-260A52E124D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45DF3A-F8D9-3E74-B0F7-E4D31A3A2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299896-7244-A41C-7A22-AF663F4F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03E31-EF1E-4FD9-B4F4-3CBF6A1FF8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51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78B59F1-6506-4CBA-71A0-C792E28D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CD4E77-57D1-CA88-79DD-EC7BB96A7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4E6410-BDD3-EFF3-7221-94485A3189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C55FA5-D7D4-400E-BAFE-260A52E124D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4FA0D5-9117-1306-F74B-16960B5CC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8B5C2F-8918-7CBC-FF8D-567E1F869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E03E31-EF1E-4FD9-B4F4-3CBF6A1FF8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15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3E1A6-AEA8-6676-1BAC-3DE627047C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방사능 위험도 모니터링 및 지도 표시 시스템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0F1506-FB7C-3797-F0D8-57604583E4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팀장</a:t>
            </a:r>
            <a:r>
              <a:rPr lang="en-US" altLang="ko-KR" dirty="0"/>
              <a:t>)</a:t>
            </a:r>
            <a:r>
              <a:rPr lang="ko-KR" altLang="en-US" dirty="0"/>
              <a:t>김정민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팀원</a:t>
            </a:r>
            <a:r>
              <a:rPr lang="en-US" altLang="ko-KR" dirty="0"/>
              <a:t>)</a:t>
            </a:r>
            <a:r>
              <a:rPr lang="ko-KR" altLang="en-US" dirty="0"/>
              <a:t>박하민</a:t>
            </a:r>
            <a:r>
              <a:rPr lang="en-US" altLang="ko-KR" dirty="0"/>
              <a:t>, </a:t>
            </a:r>
            <a:r>
              <a:rPr lang="ko-KR" altLang="en-US" dirty="0" err="1"/>
              <a:t>최건</a:t>
            </a:r>
            <a:r>
              <a:rPr lang="en-US" altLang="ko-KR" dirty="0"/>
              <a:t>,</a:t>
            </a:r>
            <a:r>
              <a:rPr lang="ko-KR" altLang="en-US" dirty="0" err="1"/>
              <a:t>박석현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2144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570CC0-6EB6-0D93-D2D2-A2F7D454A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6BCA32-A7B9-0D80-A967-19A19E8CE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요구사항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데모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위험 유형 분석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시나리오 및 시퀀스 다이어그램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상태 다이어그램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테이블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함수 추상화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평가방법</a:t>
            </a:r>
            <a:endParaRPr lang="en-US" altLang="ko-KR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C94500C-D130-FB32-61CF-0953AFFE975A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720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7BE179-46C0-3619-8C5C-1C2D0AB9C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altLang="ko-KR" sz="4800" dirty="0"/>
              <a:t>1. </a:t>
            </a:r>
            <a:r>
              <a:rPr lang="ko-KR" altLang="en-US" sz="4800" dirty="0"/>
              <a:t>요구사항</a:t>
            </a:r>
          </a:p>
        </p:txBody>
      </p:sp>
    </p:spTree>
    <p:extLst>
      <p:ext uri="{BB962C8B-B14F-4D97-AF65-F5344CB8AC3E}">
        <p14:creationId xmlns:p14="http://schemas.microsoft.com/office/powerpoint/2010/main" val="2775471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7165A-F4E9-CE40-5F07-4367EA15A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1-1. </a:t>
            </a:r>
            <a:r>
              <a:rPr lang="ko-KR" altLang="en-US" dirty="0"/>
              <a:t>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AAD94B-EBDC-10FD-DDAE-FEED31DD0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① 특정 지역 내 미지의 방사능물질의 위험도 분석</a:t>
            </a:r>
          </a:p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② 방사능물질 소멸 예측</a:t>
            </a:r>
          </a:p>
          <a:p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894EC79-FE9A-9154-4C64-65D56BBD1559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84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CD997-6D1A-B935-EAA1-CB171A039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F2AAE8-4599-D675-EF2D-2306D8972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1-2. </a:t>
            </a:r>
            <a:r>
              <a:rPr lang="ko-KR" altLang="en-US" dirty="0"/>
              <a:t>모니터링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CF319B-ECA2-0C3D-6745-E0444B5FE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① 초기 방사능물질 질량 측정함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② 붕괴율을 측정함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③ 위험도 </a:t>
            </a:r>
          </a:p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④ </a:t>
            </a:r>
            <a:r>
              <a:rPr lang="ko-KR" altLang="en-US" dirty="0" err="1"/>
              <a:t>측정년도</a:t>
            </a:r>
            <a:endParaRPr lang="ko-KR" altLang="en-US" dirty="0"/>
          </a:p>
          <a:p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D4C5587-6F9A-33A3-8A7E-9FACA8AEFEAD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327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49702-4CAE-12FC-2D86-EDCEF57C2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2EBE9-9F0B-620D-20CF-63FCE24E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1-3. </a:t>
            </a:r>
            <a:r>
              <a:rPr lang="ko-KR" altLang="en-US" dirty="0"/>
              <a:t>분석</a:t>
            </a:r>
            <a:r>
              <a:rPr lang="en-US" altLang="ko-KR" dirty="0"/>
              <a:t>&amp;</a:t>
            </a:r>
            <a:r>
              <a:rPr lang="ko-KR" altLang="en-US" dirty="0"/>
              <a:t>진단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6630B5-F29B-C10D-B9D9-6C075AA52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lnSpc>
                <a:spcPct val="200000"/>
              </a:lnSpc>
              <a:buNone/>
            </a:pPr>
            <a:r>
              <a:rPr lang="en-US" altLang="ko-KR" dirty="0"/>
              <a:t>① FATAL : </a:t>
            </a:r>
            <a:r>
              <a:rPr lang="ko-KR" altLang="en-US" dirty="0" err="1"/>
              <a:t>붕괴율</a:t>
            </a:r>
            <a:r>
              <a:rPr lang="ko-KR" altLang="en-US" dirty="0"/>
              <a:t> </a:t>
            </a:r>
            <a:r>
              <a:rPr lang="en-US" altLang="ko-KR" dirty="0"/>
              <a:t>&gt;= 1.0</a:t>
            </a:r>
            <a:endParaRPr lang="ko-KR" altLang="en-US" dirty="0"/>
          </a:p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② </a:t>
            </a:r>
            <a:r>
              <a:rPr lang="en-US" altLang="ko-KR" dirty="0"/>
              <a:t>EMERGENCY : 0.1 &lt;= </a:t>
            </a:r>
            <a:r>
              <a:rPr lang="ko-KR" altLang="en-US" dirty="0" err="1"/>
              <a:t>붕괴율</a:t>
            </a:r>
            <a:r>
              <a:rPr lang="ko-KR" altLang="en-US" dirty="0"/>
              <a:t> </a:t>
            </a:r>
            <a:r>
              <a:rPr lang="en-US" altLang="ko-KR" dirty="0"/>
              <a:t>&lt; 1.0</a:t>
            </a:r>
            <a:endParaRPr lang="ko-KR" altLang="en-US" dirty="0"/>
          </a:p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③ </a:t>
            </a:r>
            <a:r>
              <a:rPr lang="en-US" altLang="ko-KR" dirty="0"/>
              <a:t>WARNING : 0.01 &lt;= </a:t>
            </a:r>
            <a:r>
              <a:rPr lang="ko-KR" altLang="en-US" dirty="0" err="1"/>
              <a:t>붕괴율</a:t>
            </a:r>
            <a:r>
              <a:rPr lang="ko-KR" altLang="en-US" dirty="0"/>
              <a:t> </a:t>
            </a:r>
            <a:r>
              <a:rPr lang="en-US" altLang="ko-KR" dirty="0"/>
              <a:t>&lt; 0.1</a:t>
            </a:r>
            <a:endParaRPr lang="ko-KR" altLang="en-US" dirty="0"/>
          </a:p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④ </a:t>
            </a:r>
            <a:r>
              <a:rPr lang="en-US" altLang="ko-KR" dirty="0"/>
              <a:t>NORMAL : </a:t>
            </a:r>
            <a:r>
              <a:rPr lang="ko-KR" altLang="en-US" dirty="0" err="1"/>
              <a:t>붕괴율</a:t>
            </a:r>
            <a:r>
              <a:rPr lang="ko-KR" altLang="en-US" dirty="0"/>
              <a:t> </a:t>
            </a:r>
            <a:r>
              <a:rPr lang="en-US" altLang="ko-KR" dirty="0"/>
              <a:t>&lt; 0.01</a:t>
            </a:r>
            <a:endParaRPr lang="ko-KR" altLang="en-US" dirty="0"/>
          </a:p>
          <a:p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DC9DA5F-367F-C196-0381-834F864D29DD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811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EE6FB-EDB8-C7F0-11D5-D1F3D1795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1812C-E70E-FDDF-E1DF-9BB01765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1-4. </a:t>
            </a:r>
            <a:r>
              <a:rPr lang="ko-KR" altLang="en-US" dirty="0"/>
              <a:t>전략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646807-63D4-9611-9F7C-26E3E9683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① 방사능 구역 위험 알람 지도에 표시함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② 초기질량과 붕괴율을 측정함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③ 붕괴율을 기준으로 위험도와 소멸하는 년도를 예측함</a:t>
            </a:r>
            <a:r>
              <a:rPr lang="en-US" altLang="ko-KR" dirty="0"/>
              <a:t>.</a:t>
            </a:r>
            <a:endParaRPr lang="ko-KR" altLang="en-US" dirty="0"/>
          </a:p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④ </a:t>
            </a:r>
            <a:r>
              <a:rPr lang="ko-KR" altLang="en-US" dirty="0" err="1"/>
              <a:t>소멸예측년도</a:t>
            </a:r>
            <a:r>
              <a:rPr lang="ko-KR" altLang="en-US" dirty="0"/>
              <a:t> 계산 및 위험도 계산 실패 시 관리자에게 알림 전송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8B393FF-9F65-69C0-F926-9D02E68F52CB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462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58A0E-3845-4310-7A52-D1C802F80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C8D6A-96C0-AA66-73EF-8C201A3F3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1-5. </a:t>
            </a:r>
            <a:r>
              <a:rPr lang="ko-KR" altLang="en-US" dirty="0"/>
              <a:t>실행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F1B37-2040-EB9C-99DB-4FD09A59B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dirty="0"/>
              <a:t>① </a:t>
            </a:r>
            <a:r>
              <a:rPr lang="en-US" altLang="ko-KR" dirty="0" err="1"/>
              <a:t>getFirstWeight</a:t>
            </a:r>
            <a:r>
              <a:rPr lang="en-US" altLang="ko-KR" dirty="0"/>
              <a:t>() </a:t>
            </a:r>
            <a:r>
              <a:rPr lang="ko-KR" altLang="en-US" dirty="0"/>
              <a:t>호출함</a:t>
            </a:r>
            <a:endParaRPr lang="en-US" altLang="ko-KR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dirty="0"/>
              <a:t>② </a:t>
            </a:r>
            <a:r>
              <a:rPr lang="en-US" altLang="ko-KR" dirty="0" err="1"/>
              <a:t>getDecayRate</a:t>
            </a:r>
            <a:r>
              <a:rPr lang="en-US" altLang="ko-KR" dirty="0"/>
              <a:t>() </a:t>
            </a:r>
            <a:r>
              <a:rPr lang="ko-KR" altLang="en-US" dirty="0"/>
              <a:t>호출함</a:t>
            </a:r>
            <a:endParaRPr lang="en-US" altLang="ko-KR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dirty="0"/>
              <a:t>③ </a:t>
            </a:r>
            <a:r>
              <a:rPr lang="en-US" altLang="ko-KR" dirty="0" err="1"/>
              <a:t>getCalcDanger</a:t>
            </a:r>
            <a:r>
              <a:rPr lang="en-US" altLang="ko-KR" dirty="0"/>
              <a:t>(k) </a:t>
            </a:r>
            <a:r>
              <a:rPr lang="ko-KR" altLang="en-US" dirty="0"/>
              <a:t>호출함</a:t>
            </a:r>
            <a:endParaRPr lang="en-US" altLang="ko-KR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dirty="0"/>
              <a:t>④ </a:t>
            </a:r>
            <a:r>
              <a:rPr lang="en-US" altLang="ko-KR" dirty="0" err="1"/>
              <a:t>extPredYear</a:t>
            </a:r>
            <a:r>
              <a:rPr lang="en-US" altLang="ko-KR" dirty="0"/>
              <a:t>(k) </a:t>
            </a:r>
            <a:r>
              <a:rPr lang="ko-KR" altLang="en-US" dirty="0"/>
              <a:t>호출함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C0370A1-640E-3623-E798-9854F55EA4AD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240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3EC28-409C-9330-531B-E9CCE34BA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1371AE-5EB0-E32F-3CC0-AE86F2138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altLang="ko-KR" sz="4800" dirty="0"/>
              <a:t>2. </a:t>
            </a:r>
            <a:r>
              <a:rPr lang="ko-KR" altLang="en-US" sz="4800" dirty="0"/>
              <a:t>데모</a:t>
            </a:r>
          </a:p>
        </p:txBody>
      </p:sp>
    </p:spTree>
    <p:extLst>
      <p:ext uri="{BB962C8B-B14F-4D97-AF65-F5344CB8AC3E}">
        <p14:creationId xmlns:p14="http://schemas.microsoft.com/office/powerpoint/2010/main" val="3578852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1C5C5-A371-61EA-2C71-570F80E8485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데모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383D35-9D0D-C00E-A4B2-2CE28876E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6DA8CA1-2B4D-FD51-D0CE-D7D583916A19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976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00CBA-547A-AD61-FE9E-2EDB63A8A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2731E3-F20F-DC20-5B4E-B371ABA19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altLang="ko-KR" sz="4800" dirty="0"/>
              <a:t>3. </a:t>
            </a:r>
            <a:r>
              <a:rPr lang="ko-KR" altLang="en-US" sz="4800" dirty="0"/>
              <a:t>위험 유형 분석</a:t>
            </a:r>
          </a:p>
        </p:txBody>
      </p:sp>
    </p:spTree>
    <p:extLst>
      <p:ext uri="{BB962C8B-B14F-4D97-AF65-F5344CB8AC3E}">
        <p14:creationId xmlns:p14="http://schemas.microsoft.com/office/powerpoint/2010/main" val="1510558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DAAF7-266D-9E1F-DE3F-C345530BC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0AECB3-3930-A1FD-286F-47BC6FA40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3-1. </a:t>
            </a:r>
            <a:r>
              <a:rPr lang="ko-KR" altLang="en-US" dirty="0"/>
              <a:t>유형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DAB7A7-F4E8-9BE7-6BB7-CC7F8B69D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① 데이터 신뢰성 위험</a:t>
            </a:r>
            <a:endParaRPr lang="en-US" altLang="ko-KR" dirty="0"/>
          </a:p>
          <a:p>
            <a:pPr marL="457200" lvl="1" indent="0" fontAlgn="base">
              <a:lnSpc>
                <a:spcPct val="200000"/>
              </a:lnSpc>
              <a:buNone/>
            </a:pPr>
            <a:r>
              <a:rPr lang="ko-KR" altLang="en-US" dirty="0"/>
              <a:t>센서 측정값의 오류 노이즈</a:t>
            </a:r>
            <a:r>
              <a:rPr lang="en-US" altLang="ko-KR" dirty="0"/>
              <a:t>, </a:t>
            </a:r>
            <a:r>
              <a:rPr lang="ko-KR" altLang="en-US" dirty="0"/>
              <a:t>손실 등으로 인한 분석 결과 왜곡</a:t>
            </a:r>
          </a:p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② 분석 알고리즘 위험</a:t>
            </a:r>
            <a:endParaRPr lang="en-US" altLang="ko-KR" dirty="0"/>
          </a:p>
          <a:p>
            <a:pPr marL="457200" lvl="1" indent="0" fontAlgn="base">
              <a:lnSpc>
                <a:spcPct val="200000"/>
              </a:lnSpc>
              <a:buNone/>
            </a:pPr>
            <a:r>
              <a:rPr lang="ko-KR" altLang="en-US" dirty="0"/>
              <a:t>소멸 예측 함수의 오작동</a:t>
            </a:r>
            <a:r>
              <a:rPr lang="en-US" altLang="ko-KR" dirty="0"/>
              <a:t>, </a:t>
            </a:r>
            <a:r>
              <a:rPr lang="ko-KR" altLang="en-US" dirty="0"/>
              <a:t>위험도 계산 함수 오작동</a:t>
            </a:r>
          </a:p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③ 시스템 운영 위험</a:t>
            </a:r>
            <a:endParaRPr lang="en-US" altLang="ko-KR" dirty="0"/>
          </a:p>
          <a:p>
            <a:pPr marL="457200" lvl="1" indent="0" fontAlgn="base">
              <a:lnSpc>
                <a:spcPct val="200000"/>
              </a:lnSpc>
              <a:buNone/>
            </a:pPr>
            <a:r>
              <a:rPr lang="ko-KR" altLang="en-US" dirty="0"/>
              <a:t>실시간 데이터 수집 실패</a:t>
            </a:r>
            <a:r>
              <a:rPr lang="en-US" altLang="ko-KR" dirty="0"/>
              <a:t>, </a:t>
            </a:r>
            <a:r>
              <a:rPr lang="ko-KR" altLang="en-US" dirty="0"/>
              <a:t>서버 다운</a:t>
            </a:r>
            <a:r>
              <a:rPr lang="en-US" altLang="ko-KR" dirty="0"/>
              <a:t>, </a:t>
            </a:r>
            <a:r>
              <a:rPr lang="ko-KR" altLang="en-US" dirty="0"/>
              <a:t>경보 표시 오류 등으로 시스템 전체 기능 중단</a:t>
            </a:r>
          </a:p>
          <a:p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7D29B1-9521-995E-7EC5-569C1886506A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392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37BBAF-CA58-765C-F657-A74BE7AB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3-2. </a:t>
            </a:r>
            <a:r>
              <a:rPr lang="ko-KR" altLang="en-US" dirty="0"/>
              <a:t>식별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6C3FEA-A4CC-6036-777A-56852EDB2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fontAlgn="base">
              <a:lnSpc>
                <a:spcPct val="150000"/>
              </a:lnSpc>
              <a:buNone/>
            </a:pPr>
            <a:r>
              <a:rPr lang="ko-KR" altLang="en-US" dirty="0"/>
              <a:t>① 센서 오류 위험</a:t>
            </a:r>
            <a:endParaRPr lang="en-US" altLang="ko-KR" dirty="0"/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ko-KR" altLang="en-US" dirty="0"/>
              <a:t>측정 오차</a:t>
            </a:r>
            <a:r>
              <a:rPr lang="en-US" altLang="ko-KR" dirty="0"/>
              <a:t>, </a:t>
            </a:r>
            <a:r>
              <a:rPr lang="ko-KR" altLang="en-US" dirty="0"/>
              <a:t>통신 지연</a:t>
            </a:r>
            <a:r>
              <a:rPr lang="en-US" altLang="ko-KR" dirty="0"/>
              <a:t>, </a:t>
            </a:r>
            <a:r>
              <a:rPr lang="ko-KR" altLang="en-US" dirty="0"/>
              <a:t>노이즈 발생</a:t>
            </a:r>
          </a:p>
          <a:p>
            <a:pPr marL="0" indent="0" fontAlgn="base">
              <a:lnSpc>
                <a:spcPct val="150000"/>
              </a:lnSpc>
              <a:buNone/>
            </a:pPr>
            <a:r>
              <a:rPr lang="ko-KR" altLang="en-US" dirty="0"/>
              <a:t>② 데이터 저장 위험</a:t>
            </a:r>
            <a:endParaRPr lang="en-US" altLang="ko-KR" dirty="0"/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en-US" altLang="ko-KR" dirty="0"/>
              <a:t>DB </a:t>
            </a:r>
            <a:r>
              <a:rPr lang="ko-KR" altLang="en-US" dirty="0"/>
              <a:t>손상</a:t>
            </a:r>
            <a:r>
              <a:rPr lang="en-US" altLang="ko-KR" dirty="0"/>
              <a:t>, </a:t>
            </a:r>
            <a:r>
              <a:rPr lang="ko-KR" altLang="en-US" dirty="0"/>
              <a:t>값 누락</a:t>
            </a:r>
            <a:r>
              <a:rPr lang="en-US" altLang="ko-KR" dirty="0"/>
              <a:t>, </a:t>
            </a:r>
            <a:r>
              <a:rPr lang="ko-KR" altLang="en-US" dirty="0"/>
              <a:t>타임스탬프 불일치</a:t>
            </a:r>
          </a:p>
          <a:p>
            <a:pPr marL="0" indent="0" fontAlgn="base">
              <a:lnSpc>
                <a:spcPct val="150000"/>
              </a:lnSpc>
              <a:buNone/>
            </a:pPr>
            <a:r>
              <a:rPr lang="ko-KR" altLang="en-US" dirty="0"/>
              <a:t>③ </a:t>
            </a:r>
            <a:r>
              <a:rPr lang="ko-KR" altLang="en-US" dirty="0" err="1"/>
              <a:t>붕괴율</a:t>
            </a:r>
            <a:r>
              <a:rPr lang="ko-KR" altLang="en-US" dirty="0"/>
              <a:t> 계산 위험</a:t>
            </a:r>
            <a:endParaRPr lang="en-US" altLang="ko-KR" dirty="0"/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ko-KR" altLang="en-US" dirty="0"/>
              <a:t>예외 값 입력 시 계산 불능</a:t>
            </a:r>
          </a:p>
          <a:p>
            <a:pPr marL="0" indent="0" fontAlgn="base">
              <a:lnSpc>
                <a:spcPct val="150000"/>
              </a:lnSpc>
              <a:buNone/>
            </a:pPr>
            <a:r>
              <a:rPr lang="ko-KR" altLang="en-US" dirty="0"/>
              <a:t>④ 경보 모듈 위험</a:t>
            </a:r>
            <a:endParaRPr lang="en-US" altLang="ko-KR" dirty="0"/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ko-KR" altLang="en-US" dirty="0"/>
              <a:t>위험등급 색상 표기 오류</a:t>
            </a:r>
            <a:r>
              <a:rPr lang="en-US" altLang="ko-KR" dirty="0"/>
              <a:t>, </a:t>
            </a:r>
            <a:r>
              <a:rPr lang="ko-KR" altLang="en-US" dirty="0"/>
              <a:t>알람 </a:t>
            </a:r>
            <a:r>
              <a:rPr lang="ko-KR" altLang="en-US" dirty="0" err="1"/>
              <a:t>미전송</a:t>
            </a:r>
            <a:endParaRPr lang="ko-KR" altLang="en-US" dirty="0"/>
          </a:p>
          <a:p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C51501E-6D76-27CF-A6E0-A578E9D02443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249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08DCD-7155-0C78-AF48-52CC723CD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50BC38-47E5-8957-2AF3-368C725D0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3-3. </a:t>
            </a:r>
            <a:r>
              <a:rPr lang="ko-KR" altLang="en-US" dirty="0"/>
              <a:t>분석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76EB8E-3F48-E667-5E2B-EED63E04F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① 영향 대상</a:t>
            </a:r>
            <a:endParaRPr lang="en-US" altLang="ko-KR" dirty="0"/>
          </a:p>
          <a:p>
            <a:pPr marL="457200" lvl="1" indent="0" fontAlgn="base">
              <a:lnSpc>
                <a:spcPct val="200000"/>
              </a:lnSpc>
              <a:buNone/>
            </a:pPr>
            <a:r>
              <a:rPr lang="ko-KR" altLang="en-US" dirty="0"/>
              <a:t>방사능 위험도 시각화 정확도</a:t>
            </a:r>
            <a:r>
              <a:rPr lang="en-US" altLang="ko-KR" dirty="0"/>
              <a:t>, </a:t>
            </a:r>
            <a:r>
              <a:rPr lang="ko-KR" altLang="en-US" dirty="0"/>
              <a:t>관리자 판단 신뢰도</a:t>
            </a:r>
          </a:p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② 우선순위</a:t>
            </a:r>
            <a:endParaRPr lang="en-US" altLang="ko-KR" dirty="0"/>
          </a:p>
          <a:p>
            <a:pPr marL="457200" lvl="1" indent="0" fontAlgn="base">
              <a:lnSpc>
                <a:spcPct val="200000"/>
              </a:lnSpc>
              <a:buNone/>
            </a:pPr>
            <a:r>
              <a:rPr lang="ko-KR" altLang="en-US" dirty="0" err="1"/>
              <a:t>붕괴율</a:t>
            </a:r>
            <a:r>
              <a:rPr lang="ko-KR" altLang="en-US" dirty="0"/>
              <a:t> 계산 오류 </a:t>
            </a:r>
            <a:r>
              <a:rPr lang="en-US" altLang="ko-KR" dirty="0"/>
              <a:t>&gt; </a:t>
            </a:r>
            <a:r>
              <a:rPr lang="ko-KR" altLang="en-US" dirty="0"/>
              <a:t>센서 오류 </a:t>
            </a:r>
            <a:r>
              <a:rPr lang="en-US" altLang="ko-KR" dirty="0"/>
              <a:t>&gt; </a:t>
            </a:r>
            <a:r>
              <a:rPr lang="ko-KR" altLang="en-US" dirty="0"/>
              <a:t>경보 모듈 오류 </a:t>
            </a:r>
            <a:r>
              <a:rPr lang="en-US" altLang="ko-KR" dirty="0"/>
              <a:t>&gt; </a:t>
            </a:r>
            <a:r>
              <a:rPr lang="ko-KR" altLang="en-US" dirty="0"/>
              <a:t>데이터 저장 위험</a:t>
            </a:r>
          </a:p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③ 분석 방법</a:t>
            </a:r>
            <a:r>
              <a:rPr lang="en-US" altLang="ko-KR" dirty="0"/>
              <a:t>(</a:t>
            </a:r>
            <a:r>
              <a:rPr lang="ko-KR" altLang="en-US" dirty="0" err="1"/>
              <a:t>경계값</a:t>
            </a:r>
            <a:r>
              <a:rPr lang="ko-KR" altLang="en-US" dirty="0"/>
              <a:t> 테스트</a:t>
            </a:r>
            <a:r>
              <a:rPr lang="en-US" altLang="ko-KR" dirty="0"/>
              <a:t>)</a:t>
            </a:r>
          </a:p>
          <a:p>
            <a:pPr marL="457200" lvl="1" indent="0" fontAlgn="base">
              <a:lnSpc>
                <a:spcPct val="200000"/>
              </a:lnSpc>
              <a:buNone/>
            </a:pPr>
            <a:r>
              <a:rPr lang="en-US" altLang="ko-KR" dirty="0"/>
              <a:t>decay </a:t>
            </a:r>
            <a:r>
              <a:rPr lang="ko-KR" altLang="en-US" dirty="0"/>
              <a:t>값이 </a:t>
            </a:r>
            <a:r>
              <a:rPr lang="en-US" altLang="ko-KR" dirty="0"/>
              <a:t>0.009 / 0.01 / 0.099 / 0.1 </a:t>
            </a:r>
            <a:r>
              <a:rPr lang="ko-KR" altLang="en-US" dirty="0"/>
              <a:t>같은 경계를 넘을 때 등급이 제대로 바뀌는지 확인</a:t>
            </a:r>
          </a:p>
          <a:p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6CA5402-F6E9-31FC-F9B9-5E7C60F7293B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713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07B8E-2A67-3761-B883-5076AC7CF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88E96F-0185-E869-0C50-EFE1280F8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3-4. </a:t>
            </a:r>
            <a:r>
              <a:rPr lang="ko-KR" altLang="en-US" dirty="0"/>
              <a:t>전략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8E66AB-12BD-FF61-A69F-26FFE28EC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fontAlgn="base">
              <a:lnSpc>
                <a:spcPct val="150000"/>
              </a:lnSpc>
              <a:buNone/>
            </a:pPr>
            <a:r>
              <a:rPr lang="ko-KR" altLang="en-US" dirty="0"/>
              <a:t>① 회피 전략</a:t>
            </a:r>
            <a:endParaRPr lang="en-US" altLang="ko-KR" dirty="0"/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ko-KR" altLang="en-US" dirty="0"/>
              <a:t>센서 이중화</a:t>
            </a:r>
            <a:r>
              <a:rPr lang="en-US" altLang="ko-KR" dirty="0"/>
              <a:t>, </a:t>
            </a:r>
            <a:r>
              <a:rPr lang="ko-KR" altLang="en-US" dirty="0"/>
              <a:t>데이터 검증 알고리즘 추가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평균 필터</a:t>
            </a:r>
            <a:r>
              <a:rPr lang="en-US" altLang="ko-KR" dirty="0"/>
              <a:t>, </a:t>
            </a:r>
            <a:r>
              <a:rPr lang="ko-KR" altLang="en-US" dirty="0"/>
              <a:t>이상치 제거</a:t>
            </a:r>
            <a:r>
              <a:rPr lang="en-US" altLang="ko-KR" dirty="0"/>
              <a:t>)</a:t>
            </a:r>
            <a:endParaRPr lang="ko-KR" altLang="en-US" dirty="0"/>
          </a:p>
          <a:p>
            <a:pPr marL="0" indent="0" fontAlgn="base">
              <a:lnSpc>
                <a:spcPct val="150000"/>
              </a:lnSpc>
              <a:buNone/>
            </a:pPr>
            <a:r>
              <a:rPr lang="ko-KR" altLang="en-US" dirty="0"/>
              <a:t>② 최소화 전략</a:t>
            </a:r>
            <a:endParaRPr lang="en-US" altLang="ko-KR" dirty="0"/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ko-KR" altLang="en-US" dirty="0"/>
              <a:t>계산 모듈에 예외처리 로직 추가</a:t>
            </a:r>
          </a:p>
          <a:p>
            <a:pPr marL="0" indent="0" fontAlgn="base">
              <a:lnSpc>
                <a:spcPct val="150000"/>
              </a:lnSpc>
              <a:buNone/>
            </a:pPr>
            <a:r>
              <a:rPr lang="ko-KR" altLang="en-US" dirty="0"/>
              <a:t>③ 비상 계획</a:t>
            </a:r>
            <a:endParaRPr lang="en-US" altLang="ko-KR" dirty="0"/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ko-KR" altLang="en-US" dirty="0"/>
              <a:t>주요 모듈 장애 발생 시 관리자 자동 알림 및 백업 </a:t>
            </a:r>
            <a:r>
              <a:rPr lang="en-US" altLang="ko-KR" dirty="0"/>
              <a:t>DB</a:t>
            </a:r>
            <a:r>
              <a:rPr lang="ko-KR" altLang="en-US" dirty="0"/>
              <a:t>에서 복구</a:t>
            </a:r>
          </a:p>
          <a:p>
            <a:pPr marL="0" indent="0" fontAlgn="base">
              <a:lnSpc>
                <a:spcPct val="150000"/>
              </a:lnSpc>
              <a:buNone/>
            </a:pPr>
            <a:r>
              <a:rPr lang="ko-KR" altLang="en-US" dirty="0"/>
              <a:t>④ 시각화</a:t>
            </a:r>
            <a:r>
              <a:rPr lang="en-US" altLang="ko-KR" dirty="0"/>
              <a:t>/</a:t>
            </a:r>
            <a:r>
              <a:rPr lang="ko-KR" altLang="en-US" dirty="0"/>
              <a:t>경보 안정화</a:t>
            </a:r>
            <a:endParaRPr lang="en-US" altLang="ko-KR" dirty="0"/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ko-KR" altLang="en-US" dirty="0"/>
              <a:t>색상 매핑과 알람 트리거 로직을 주기적으로 점검 및 검증</a:t>
            </a:r>
          </a:p>
          <a:p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0DA4CEF-B8D1-DF77-75A0-3AEF75A63715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484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17F55-C3E5-9D30-1FAB-CCDD2007D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B1DF43-8E8A-6E7A-867E-75DE61327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1062"/>
            <a:ext cx="10515600" cy="1325563"/>
          </a:xfrm>
        </p:spPr>
        <p:txBody>
          <a:bodyPr/>
          <a:lstStyle/>
          <a:p>
            <a:r>
              <a:rPr lang="en-US" altLang="ko-KR" dirty="0"/>
              <a:t>3-5. </a:t>
            </a:r>
            <a:r>
              <a:rPr lang="ko-KR" altLang="en-US" dirty="0"/>
              <a:t>감시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B96D6-8D1D-E1AD-68E9-45E38CEC1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fontAlgn="base">
              <a:lnSpc>
                <a:spcPct val="150000"/>
              </a:lnSpc>
              <a:buNone/>
            </a:pPr>
            <a:r>
              <a:rPr lang="ko-KR" altLang="en-US" dirty="0"/>
              <a:t>① 데이터 수집 성공률</a:t>
            </a:r>
            <a:r>
              <a:rPr lang="en-US" altLang="ko-KR" dirty="0"/>
              <a:t>(%)</a:t>
            </a:r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ko-KR" altLang="en-US" dirty="0"/>
              <a:t>전체 측정 중 정상 저장 비율</a:t>
            </a:r>
          </a:p>
          <a:p>
            <a:pPr marL="0" indent="0" fontAlgn="base">
              <a:lnSpc>
                <a:spcPct val="150000"/>
              </a:lnSpc>
              <a:buNone/>
            </a:pPr>
            <a:r>
              <a:rPr lang="ko-KR" altLang="en-US" dirty="0"/>
              <a:t>② 예측 정확도</a:t>
            </a:r>
            <a:r>
              <a:rPr lang="en-US" altLang="ko-KR" dirty="0"/>
              <a:t>(MAE, RMSE)</a:t>
            </a:r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ko-KR" altLang="en-US" dirty="0"/>
              <a:t>실제 소멸 시점 대비 예측 오차율</a:t>
            </a:r>
          </a:p>
          <a:p>
            <a:pPr marL="0" indent="0" fontAlgn="base">
              <a:lnSpc>
                <a:spcPct val="150000"/>
              </a:lnSpc>
              <a:buNone/>
            </a:pPr>
            <a:r>
              <a:rPr lang="ko-KR" altLang="en-US" dirty="0"/>
              <a:t>③ 경보 </a:t>
            </a:r>
            <a:r>
              <a:rPr lang="ko-KR" altLang="en-US" dirty="0" err="1"/>
              <a:t>전달율</a:t>
            </a:r>
            <a:r>
              <a:rPr lang="en-US" altLang="ko-KR" dirty="0"/>
              <a:t>(%)</a:t>
            </a:r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ko-KR" altLang="en-US" dirty="0"/>
              <a:t>위험 발생 시 알람이 관리자에게 전달된 비율</a:t>
            </a:r>
          </a:p>
          <a:p>
            <a:pPr marL="0" indent="0" fontAlgn="base">
              <a:lnSpc>
                <a:spcPct val="150000"/>
              </a:lnSpc>
              <a:buNone/>
            </a:pPr>
            <a:r>
              <a:rPr lang="ko-KR" altLang="en-US" dirty="0"/>
              <a:t>④ 시스템 가용성</a:t>
            </a:r>
            <a:r>
              <a:rPr lang="en-US" altLang="ko-KR" dirty="0"/>
              <a:t>(Availability)</a:t>
            </a:r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ko-KR" altLang="en-US" dirty="0"/>
              <a:t>전체 운영 시간 중 정상 동작 시간 비율</a:t>
            </a:r>
          </a:p>
          <a:p>
            <a:endParaRPr lang="ko-KR" alt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DE051D4-EACD-9C5E-3497-166397C06076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356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1153C-A024-E145-0D48-1D55588B5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A530BE-04D1-CA11-0EBD-7E527499B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altLang="ko-KR" sz="4800" dirty="0"/>
              <a:t>4. </a:t>
            </a:r>
            <a:r>
              <a:rPr lang="ko-KR" altLang="en-US" sz="4800" dirty="0"/>
              <a:t>시나리오 및 시퀀스 다이어그램</a:t>
            </a:r>
          </a:p>
        </p:txBody>
      </p:sp>
    </p:spTree>
    <p:extLst>
      <p:ext uri="{BB962C8B-B14F-4D97-AF65-F5344CB8AC3E}">
        <p14:creationId xmlns:p14="http://schemas.microsoft.com/office/powerpoint/2010/main" val="1746212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98F95-9872-9956-C2F9-056CA3DEB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4-1. </a:t>
            </a:r>
            <a:r>
              <a:rPr lang="ko-KR" altLang="en-US" dirty="0"/>
              <a:t>위험도 맵 표시 시나리오</a:t>
            </a:r>
          </a:p>
        </p:txBody>
      </p:sp>
      <p:pic>
        <p:nvPicPr>
          <p:cNvPr id="5" name="내용 개체 틀 4" descr="텍스트, 도표, 라인, 평면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393348-6C51-FE64-5EC8-160326A201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074" y="1825625"/>
            <a:ext cx="5897002" cy="4667250"/>
          </a:xfr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88BEF2C-E850-8BD2-7A16-44B5B8829315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541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D3263E-9152-6203-BCFC-48DB31E07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4-2. </a:t>
            </a:r>
            <a:r>
              <a:rPr lang="ko-KR" altLang="en-US" dirty="0"/>
              <a:t>예측 소멸 연도 맵 표시 시나리오</a:t>
            </a:r>
          </a:p>
        </p:txBody>
      </p:sp>
      <p:pic>
        <p:nvPicPr>
          <p:cNvPr id="5" name="내용 개체 틀 4" descr="텍스트, 도표, 평행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16390D-D786-DD24-B740-009538AAF8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354" y="1825625"/>
            <a:ext cx="5967291" cy="4351338"/>
          </a:xfr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9300B09-8EF9-32DE-0974-C7CA95C0AE4E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980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266A-8EBB-A58E-A290-D5AC0BE70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89CD3E-6C52-AFA3-6979-48ED39B35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altLang="ko-KR" sz="4800" dirty="0"/>
              <a:t>5. </a:t>
            </a:r>
            <a:r>
              <a:rPr lang="ko-KR" altLang="en-US" sz="4800" dirty="0"/>
              <a:t>상태 다이어그램</a:t>
            </a:r>
          </a:p>
        </p:txBody>
      </p:sp>
    </p:spTree>
    <p:extLst>
      <p:ext uri="{BB962C8B-B14F-4D97-AF65-F5344CB8AC3E}">
        <p14:creationId xmlns:p14="http://schemas.microsoft.com/office/powerpoint/2010/main" val="751223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5ED2AB-CED2-8ABD-68CF-C12710043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5-1. </a:t>
            </a:r>
            <a:r>
              <a:rPr lang="ko-KR" altLang="en-US" dirty="0"/>
              <a:t>위험도 맵 표시 상태</a:t>
            </a:r>
          </a:p>
        </p:txBody>
      </p:sp>
      <p:pic>
        <p:nvPicPr>
          <p:cNvPr id="5" name="내용 개체 틀 4" descr="텍스트, 도표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B6B3AE-377A-EE7D-64E1-B5EED3C23C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95812"/>
            <a:ext cx="10515600" cy="2866375"/>
          </a:xfr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FD578F8-85D1-ADA3-0E13-6B87E0BE2296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537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109B6-0734-7AA6-96BD-B3F0F4996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5-2. </a:t>
            </a:r>
            <a:r>
              <a:rPr lang="ko-KR" altLang="en-US" dirty="0"/>
              <a:t>예측 소멸 연도 맵 표시 상태</a:t>
            </a:r>
          </a:p>
        </p:txBody>
      </p:sp>
      <p:pic>
        <p:nvPicPr>
          <p:cNvPr id="5" name="내용 개체 틀 4" descr="도표, 라인, 텍스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5F8305-DDFA-B193-CF84-F6F35E71F7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39102"/>
            <a:ext cx="10515600" cy="4039717"/>
          </a:xfr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5084252-6799-F7ED-ACA4-9133DB131B4B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663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71364-7AEC-5A41-EF79-058995F3D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E12F13-D54F-4BE0-2C78-923001A61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altLang="ko-KR" sz="4800" dirty="0"/>
              <a:t>6. </a:t>
            </a:r>
            <a:r>
              <a:rPr lang="ko-KR" altLang="en-US" sz="4800" dirty="0"/>
              <a:t>테이블</a:t>
            </a:r>
          </a:p>
        </p:txBody>
      </p:sp>
    </p:spTree>
    <p:extLst>
      <p:ext uri="{BB962C8B-B14F-4D97-AF65-F5344CB8AC3E}">
        <p14:creationId xmlns:p14="http://schemas.microsoft.com/office/powerpoint/2010/main" val="3247479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E22A7-74DA-4EA3-1CE9-6954ED31372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altLang="ko-KR" dirty="0"/>
              <a:t>6-1. </a:t>
            </a:r>
            <a:r>
              <a:rPr lang="ko-KR" altLang="en-US" dirty="0"/>
              <a:t>위험도 맵 표시 테이블</a:t>
            </a:r>
          </a:p>
        </p:txBody>
      </p:sp>
      <p:graphicFrame>
        <p:nvGraphicFramePr>
          <p:cNvPr id="7" name="내용 개체 틀 6">
            <a:extLst>
              <a:ext uri="{FF2B5EF4-FFF2-40B4-BE49-F238E27FC236}">
                <a16:creationId xmlns:a16="http://schemas.microsoft.com/office/drawing/2014/main" id="{F50C1B1D-BA8E-6382-3A67-6F8AB224B3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8876866"/>
              </p:ext>
            </p:extLst>
          </p:nvPr>
        </p:nvGraphicFramePr>
        <p:xfrm>
          <a:off x="838200" y="2552700"/>
          <a:ext cx="10515600" cy="1752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0692884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666027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877062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3325012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505761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지역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(String)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초기질량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(Double)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측정시각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DateTime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붕괴율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(Double)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위험도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(String)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55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서울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12.5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2025-11-19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1.20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FATAL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947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인천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6.3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2025-11-19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0.35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EMERGENCY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7756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79041"/>
                  </a:ext>
                </a:extLst>
              </a:tr>
            </a:tbl>
          </a:graphicData>
        </a:graphic>
      </p:graphicFrame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C3C435B-BF81-4D78-C917-1BF91A6D8236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464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842CF-4715-D331-D274-BC6F10868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6-2. </a:t>
            </a:r>
            <a:r>
              <a:rPr lang="ko-KR" altLang="en-US" dirty="0"/>
              <a:t>예측 소멸 연도 맵 표시 테이블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459382B-1BB9-9579-F521-D993588F81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3449722"/>
              </p:ext>
            </p:extLst>
          </p:nvPr>
        </p:nvGraphicFramePr>
        <p:xfrm>
          <a:off x="838200" y="2552700"/>
          <a:ext cx="10515600" cy="1752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5992623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8197125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6575898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63021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101808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지역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(String)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붕괴율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(Double)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위험도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(String)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측정연도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(Int)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예측소멸연도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(Int)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706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서울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1.20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FATAL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2025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2042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662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인천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0.35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EMERGENCY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2025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2035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342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663476"/>
                  </a:ext>
                </a:extLst>
              </a:tr>
            </a:tbl>
          </a:graphicData>
        </a:graphic>
      </p:graphicFrame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0A9E7CE-774A-B46B-EF85-B672B5E0B6EE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664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8B9F-1715-C310-831F-028E6FA0F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391D72-5A33-21E0-B840-D6D67FF2E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altLang="ko-KR" sz="4800" dirty="0"/>
              <a:t>7. </a:t>
            </a:r>
            <a:r>
              <a:rPr lang="ko-KR" altLang="en-US" sz="4800" dirty="0"/>
              <a:t>함수 추상화</a:t>
            </a:r>
          </a:p>
        </p:txBody>
      </p:sp>
    </p:spTree>
    <p:extLst>
      <p:ext uri="{BB962C8B-B14F-4D97-AF65-F5344CB8AC3E}">
        <p14:creationId xmlns:p14="http://schemas.microsoft.com/office/powerpoint/2010/main" val="18235153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2054F-3837-AE30-DCE9-BD6608154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함수 추상화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60D510C-93B2-6A44-9E3E-CFE28B4E2549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C63B9AA-502C-596D-1B26-2C080EC78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fontAlgn="base">
              <a:lnSpc>
                <a:spcPct val="150000"/>
              </a:lnSpc>
              <a:buNone/>
            </a:pPr>
            <a:r>
              <a:rPr lang="ko-KR" altLang="en-US" dirty="0"/>
              <a:t>① </a:t>
            </a:r>
            <a:r>
              <a:rPr lang="en-US" altLang="ko-KR" dirty="0"/>
              <a:t>Double </a:t>
            </a:r>
            <a:r>
              <a:rPr lang="en-US" altLang="ko-KR" dirty="0" err="1"/>
              <a:t>getFirstWeight</a:t>
            </a:r>
            <a:r>
              <a:rPr lang="en-US" altLang="ko-KR" dirty="0"/>
              <a:t>()</a:t>
            </a:r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ko-KR" altLang="en-US" dirty="0"/>
              <a:t>방사능 물질의 초기 질량을 측정함</a:t>
            </a:r>
          </a:p>
          <a:p>
            <a:pPr marL="0" indent="0" fontAlgn="base">
              <a:lnSpc>
                <a:spcPct val="150000"/>
              </a:lnSpc>
              <a:buNone/>
            </a:pPr>
            <a:r>
              <a:rPr lang="ko-KR" altLang="en-US" dirty="0"/>
              <a:t>② </a:t>
            </a:r>
            <a:r>
              <a:rPr lang="en-US" altLang="ko-KR" dirty="0"/>
              <a:t>Double</a:t>
            </a:r>
            <a:r>
              <a:rPr lang="ko-KR" altLang="en-US" dirty="0"/>
              <a:t> </a:t>
            </a:r>
            <a:r>
              <a:rPr lang="en-US" altLang="ko-KR" dirty="0" err="1"/>
              <a:t>getDecayRate</a:t>
            </a:r>
            <a:r>
              <a:rPr lang="en-US" altLang="ko-KR" dirty="0"/>
              <a:t>()</a:t>
            </a:r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ko-KR" altLang="en-US" dirty="0" err="1"/>
              <a:t>붕괴율</a:t>
            </a:r>
            <a:r>
              <a:rPr lang="ko-KR" altLang="en-US" dirty="0"/>
              <a:t> </a:t>
            </a:r>
            <a:r>
              <a:rPr lang="en-US" altLang="ko-KR" dirty="0"/>
              <a:t>k</a:t>
            </a:r>
            <a:r>
              <a:rPr lang="ko-KR" altLang="en-US" dirty="0"/>
              <a:t>값을 가져옴</a:t>
            </a:r>
          </a:p>
          <a:p>
            <a:pPr marL="0" indent="0" fontAlgn="base">
              <a:lnSpc>
                <a:spcPct val="150000"/>
              </a:lnSpc>
              <a:buNone/>
            </a:pPr>
            <a:r>
              <a:rPr lang="ko-KR" altLang="en-US" dirty="0"/>
              <a:t>③ </a:t>
            </a:r>
            <a:r>
              <a:rPr lang="en-US" altLang="ko-KR" dirty="0"/>
              <a:t>String</a:t>
            </a:r>
            <a:r>
              <a:rPr lang="ko-KR" altLang="en-US" dirty="0"/>
              <a:t> </a:t>
            </a:r>
            <a:r>
              <a:rPr lang="en-US" altLang="ko-KR" dirty="0" err="1"/>
              <a:t>getCalcDanger</a:t>
            </a:r>
            <a:r>
              <a:rPr lang="en-US" altLang="ko-KR" dirty="0"/>
              <a:t>(double k)</a:t>
            </a:r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ko-KR" altLang="en-US" dirty="0"/>
              <a:t>위험도를 계산해 반환함</a:t>
            </a:r>
          </a:p>
          <a:p>
            <a:pPr marL="0" indent="0" fontAlgn="base">
              <a:lnSpc>
                <a:spcPct val="150000"/>
              </a:lnSpc>
              <a:buNone/>
            </a:pPr>
            <a:r>
              <a:rPr lang="ko-KR" altLang="en-US" dirty="0"/>
              <a:t>④ </a:t>
            </a:r>
            <a:r>
              <a:rPr lang="en-US" altLang="ko-KR" dirty="0" err="1"/>
              <a:t>Datatime</a:t>
            </a:r>
            <a:r>
              <a:rPr lang="en-US" altLang="ko-KR" dirty="0"/>
              <a:t> </a:t>
            </a:r>
            <a:r>
              <a:rPr lang="en-US" altLang="ko-KR" dirty="0" err="1"/>
              <a:t>extPredYear</a:t>
            </a:r>
            <a:r>
              <a:rPr lang="en-US" altLang="ko-KR" dirty="0"/>
              <a:t>(double k)</a:t>
            </a:r>
          </a:p>
          <a:p>
            <a:pPr marL="457200" lvl="1" indent="0" fontAlgn="base">
              <a:lnSpc>
                <a:spcPct val="150000"/>
              </a:lnSpc>
              <a:buNone/>
            </a:pPr>
            <a:r>
              <a:rPr lang="ko-KR" altLang="en-US" dirty="0"/>
              <a:t>붕괴율을 기준으로 소멸 예측 연도를 계산함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2314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1FA0B-ABF2-9C84-649A-39CEC7F7E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E42DCB-446E-C84E-8444-AC0975CE1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altLang="ko-KR" sz="4800" dirty="0"/>
              <a:t>8. </a:t>
            </a:r>
            <a:r>
              <a:rPr lang="ko-KR" altLang="en-US" sz="4800" dirty="0"/>
              <a:t>평가방법</a:t>
            </a:r>
          </a:p>
        </p:txBody>
      </p:sp>
    </p:spTree>
    <p:extLst>
      <p:ext uri="{BB962C8B-B14F-4D97-AF65-F5344CB8AC3E}">
        <p14:creationId xmlns:p14="http://schemas.microsoft.com/office/powerpoint/2010/main" val="2789723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E6CFE-2EAB-90F7-5382-62A32826D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평가방법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E681BE-3BF5-3529-5989-8677AF0F6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lnSpc>
                <a:spcPct val="200000"/>
              </a:lnSpc>
              <a:buNone/>
            </a:pPr>
            <a:r>
              <a:rPr lang="en-US" altLang="ko-KR" dirty="0"/>
              <a:t>① </a:t>
            </a:r>
            <a:r>
              <a:rPr lang="ko-KR" altLang="en-US" dirty="0" err="1"/>
              <a:t>붕괴율</a:t>
            </a:r>
            <a:r>
              <a:rPr lang="en-US" altLang="ko-KR" dirty="0"/>
              <a:t>(K)</a:t>
            </a:r>
            <a:r>
              <a:rPr lang="ko-KR" altLang="en-US" dirty="0"/>
              <a:t>에 따른 위험도 분류 정확도 평가</a:t>
            </a:r>
          </a:p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② 예측 소멸 시점</a:t>
            </a:r>
            <a:r>
              <a:rPr lang="en-US" altLang="ko-KR" dirty="0"/>
              <a:t>(T)</a:t>
            </a:r>
            <a:r>
              <a:rPr lang="ko-KR" altLang="en-US" dirty="0"/>
              <a:t> 정확도 평가</a:t>
            </a:r>
          </a:p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③ </a:t>
            </a:r>
            <a:r>
              <a:rPr lang="en-US" altLang="ko-KR" dirty="0"/>
              <a:t>K </a:t>
            </a:r>
            <a:r>
              <a:rPr lang="ko-KR" altLang="en-US" dirty="0"/>
              <a:t>측정값에 대한 </a:t>
            </a:r>
            <a:r>
              <a:rPr lang="ko-KR" altLang="en-US" dirty="0" err="1"/>
              <a:t>오탐율</a:t>
            </a:r>
            <a:r>
              <a:rPr lang="ko-KR" altLang="en-US" dirty="0"/>
              <a:t> 평가</a:t>
            </a:r>
          </a:p>
          <a:p>
            <a:pPr marL="0" indent="0" fontAlgn="base">
              <a:lnSpc>
                <a:spcPct val="200000"/>
              </a:lnSpc>
              <a:buNone/>
            </a:pPr>
            <a:r>
              <a:rPr lang="ko-KR" altLang="en-US" dirty="0"/>
              <a:t>④ 예측 소멸 시점</a:t>
            </a:r>
            <a:r>
              <a:rPr lang="en-US" altLang="ko-KR" dirty="0"/>
              <a:t>(T) </a:t>
            </a:r>
            <a:r>
              <a:rPr lang="ko-KR" altLang="en-US" dirty="0"/>
              <a:t>측정값에 대한 </a:t>
            </a:r>
            <a:r>
              <a:rPr lang="ko-KR" altLang="en-US" dirty="0" err="1"/>
              <a:t>오탐율</a:t>
            </a:r>
            <a:r>
              <a:rPr lang="ko-KR" altLang="en-US" dirty="0"/>
              <a:t> 평가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852D199-ADF5-38CC-266A-F07E2703C5AD}"/>
              </a:ext>
            </a:extLst>
          </p:cNvPr>
          <p:cNvCxnSpPr>
            <a:cxnSpLocks/>
          </p:cNvCxnSpPr>
          <p:nvPr/>
        </p:nvCxnSpPr>
        <p:spPr>
          <a:xfrm>
            <a:off x="838200" y="1506203"/>
            <a:ext cx="105156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7053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29589F-BBF0-23BB-CCD9-5628E3238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ko-KR" altLang="en-US" sz="9600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640885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650</Words>
  <Application>Microsoft Office PowerPoint</Application>
  <PresentationFormat>와이드스크린</PresentationFormat>
  <Paragraphs>149</Paragraphs>
  <Slides>30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맑은 고딕</vt:lpstr>
      <vt:lpstr>Arial</vt:lpstr>
      <vt:lpstr>Office 테마</vt:lpstr>
      <vt:lpstr>방사능 위험도 모니터링 및 지도 표시 시스템</vt:lpstr>
      <vt:lpstr>목차</vt:lpstr>
      <vt:lpstr>PowerPoint 프레젠테이션</vt:lpstr>
      <vt:lpstr>1-1. 목표</vt:lpstr>
      <vt:lpstr>1-2. 모니터링</vt:lpstr>
      <vt:lpstr>1-3. 분석&amp;진단</vt:lpstr>
      <vt:lpstr>1-4. 전략</vt:lpstr>
      <vt:lpstr>1-5. 실행</vt:lpstr>
      <vt:lpstr>PowerPoint 프레젠테이션</vt:lpstr>
      <vt:lpstr>2. 데모</vt:lpstr>
      <vt:lpstr>PowerPoint 프레젠테이션</vt:lpstr>
      <vt:lpstr>3-1. 유형</vt:lpstr>
      <vt:lpstr>3-2. 식별 </vt:lpstr>
      <vt:lpstr>3-3. 분석 </vt:lpstr>
      <vt:lpstr>3-4. 전략 </vt:lpstr>
      <vt:lpstr>3-5. 감시</vt:lpstr>
      <vt:lpstr>PowerPoint 프레젠테이션</vt:lpstr>
      <vt:lpstr>4-1. 위험도 맵 표시 시나리오</vt:lpstr>
      <vt:lpstr>4-2. 예측 소멸 연도 맵 표시 시나리오</vt:lpstr>
      <vt:lpstr>PowerPoint 프레젠테이션</vt:lpstr>
      <vt:lpstr>5-1. 위험도 맵 표시 상태</vt:lpstr>
      <vt:lpstr>5-2. 예측 소멸 연도 맵 표시 상태</vt:lpstr>
      <vt:lpstr>PowerPoint 프레젠테이션</vt:lpstr>
      <vt:lpstr>6-1. 위험도 맵 표시 테이블</vt:lpstr>
      <vt:lpstr>6-2. 예측 소멸 연도 맵 표시 테이블</vt:lpstr>
      <vt:lpstr>PowerPoint 프레젠테이션</vt:lpstr>
      <vt:lpstr>7. 함수 추상화</vt:lpstr>
      <vt:lpstr>PowerPoint 프레젠테이션</vt:lpstr>
      <vt:lpstr>8. 평가방법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박하민(2020158016)</dc:creator>
  <cp:lastModifiedBy>park seokhyunp</cp:lastModifiedBy>
  <cp:revision>7</cp:revision>
  <dcterms:created xsi:type="dcterms:W3CDTF">2025-11-18T05:00:42Z</dcterms:created>
  <dcterms:modified xsi:type="dcterms:W3CDTF">2025-12-02T11:31:24Z</dcterms:modified>
</cp:coreProperties>
</file>